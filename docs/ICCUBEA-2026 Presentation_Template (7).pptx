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Default Extension="vml" ContentType="application/vnd.openxmlformats-officedocument.vmlDrawing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"/>
  </p:notesMasterIdLst>
  <p:handoutMasterIdLst>
    <p:handoutMasterId r:id="rId5"/>
  </p:handoutMasterIdLst>
  <p:sldIdLst>
    <p:sldId id="3415" r:id="rId2"/>
    <p:sldId id="3414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304A1E"/>
    <a:srgbClr val="F9ADEE"/>
    <a:srgbClr val="1111FB"/>
    <a:srgbClr val="8A0000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1651" autoAdjust="0"/>
    <p:restoredTop sz="94660"/>
  </p:normalViewPr>
  <p:slideViewPr>
    <p:cSldViewPr snapToGrid="0">
      <p:cViewPr varScale="1">
        <p:scale>
          <a:sx n="91" d="100"/>
          <a:sy n="91" d="100"/>
        </p:scale>
        <p:origin x="-696" y="-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787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="" xmlns:a16="http://schemas.microsoft.com/office/drawing/2014/main" id="{BCEDEC25-3AB5-FF40-A950-1F4BA56700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i-IN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802338DA-25F0-A21A-6DA9-C2C5D330136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DBAF20-1A03-4944-9055-8BADAC71E490}" type="datetimeFigureOut">
              <a:rPr lang="hi-IN" smtClean="0"/>
              <a:pPr/>
              <a:t>सोमवार, 12 श्रावण 1948</a:t>
            </a:fld>
            <a:endParaRPr lang="hi-IN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D54376C0-CCDA-7DFF-7147-59FD4617DBF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ICCUBEA-22</a:t>
            </a:r>
            <a:endParaRPr lang="hi-IN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82A29DD4-353E-6D20-E922-9EA20063BD0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DB77F-8F4F-4E05-B831-970247CD30D5}" type="slidenum">
              <a:rPr lang="hi-IN" smtClean="0"/>
              <a:pPr/>
              <a:t>‹#›</a:t>
            </a:fld>
            <a:endParaRPr lang="hi-IN"/>
          </a:p>
        </p:txBody>
      </p:sp>
    </p:spTree>
    <p:extLst>
      <p:ext uri="{BB962C8B-B14F-4D97-AF65-F5344CB8AC3E}">
        <p14:creationId xmlns="" xmlns:p14="http://schemas.microsoft.com/office/powerpoint/2010/main" val="293096537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D58163-2829-4791-B4DF-9FB9133543E0}" type="datetimeFigureOut">
              <a:rPr lang="en-IN" smtClean="0"/>
              <a:pPr/>
              <a:t>03-08-2026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ICCUBEA-22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BA5013-305B-4404-BE5B-3ED24F8E18E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477112347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C5480-3659-45CA-A72D-96A8E058727E}" type="datetime1">
              <a:rPr lang="en-IN" smtClean="0"/>
              <a:pPr/>
              <a:t>03-08-2026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ICCUBEA-22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237B1-CA96-486C-B120-773683BBF95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006584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" y="68034"/>
            <a:ext cx="11065747" cy="720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600" y="1038782"/>
            <a:ext cx="11978640" cy="5220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1600" y="6523670"/>
            <a:ext cx="2743200" cy="274324"/>
          </a:xfrm>
        </p:spPr>
        <p:txBody>
          <a:bodyPr/>
          <a:lstStyle/>
          <a:p>
            <a:fld id="{4E056B53-C172-4106-9720-CA39D0401213}" type="datetime1">
              <a:rPr lang="en-IN" smtClean="0"/>
              <a:pPr/>
              <a:t>03-08-2026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23670"/>
            <a:ext cx="4114800" cy="274324"/>
          </a:xfrm>
        </p:spPr>
        <p:txBody>
          <a:bodyPr/>
          <a:lstStyle/>
          <a:p>
            <a:r>
              <a:rPr lang="en-IN"/>
              <a:t>ICCUBEA-22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41400" y="6523670"/>
            <a:ext cx="2743200" cy="274324"/>
          </a:xfrm>
        </p:spPr>
        <p:txBody>
          <a:bodyPr/>
          <a:lstStyle/>
          <a:p>
            <a:fld id="{AC4237B1-CA96-486C-B120-773683BBF955}" type="slidenum">
              <a:rPr lang="en-IN" smtClean="0"/>
              <a:pPr/>
              <a:t>‹#›</a:t>
            </a:fld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88D04F86-20FB-4FE2-9C78-7FB7FCA40D56}"/>
              </a:ext>
            </a:extLst>
          </p:cNvPr>
          <p:cNvGrpSpPr/>
          <p:nvPr userDrawn="1"/>
        </p:nvGrpSpPr>
        <p:grpSpPr>
          <a:xfrm>
            <a:off x="0" y="874168"/>
            <a:ext cx="11167347" cy="66801"/>
            <a:chOff x="0" y="884326"/>
            <a:chExt cx="8292584" cy="66801"/>
          </a:xfrm>
        </p:grpSpPr>
        <p:sp>
          <p:nvSpPr>
            <p:cNvPr id="8" name="Rectangle 7">
              <a:extLst>
                <a:ext uri="{FF2B5EF4-FFF2-40B4-BE49-F238E27FC236}">
                  <a16:creationId xmlns="" xmlns:a16="http://schemas.microsoft.com/office/drawing/2014/main" id="{03856CC5-5C97-4B7E-955F-D0C5AE3204B6}"/>
                </a:ext>
              </a:extLst>
            </p:cNvPr>
            <p:cNvSpPr/>
            <p:nvPr/>
          </p:nvSpPr>
          <p:spPr bwMode="auto">
            <a:xfrm>
              <a:off x="6997239" y="884326"/>
              <a:ext cx="1295345" cy="66801"/>
            </a:xfrm>
            <a:prstGeom prst="rect">
              <a:avLst/>
            </a:prstGeom>
            <a:solidFill>
              <a:srgbClr val="9BBB5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="" xmlns:a16="http://schemas.microsoft.com/office/drawing/2014/main" id="{1FEBFF2B-5D63-4EDA-BC13-9733DA966707}"/>
                </a:ext>
              </a:extLst>
            </p:cNvPr>
            <p:cNvSpPr/>
            <p:nvPr/>
          </p:nvSpPr>
          <p:spPr bwMode="auto">
            <a:xfrm>
              <a:off x="0" y="884326"/>
              <a:ext cx="6936079" cy="66801"/>
            </a:xfrm>
            <a:prstGeom prst="rect">
              <a:avLst/>
            </a:prstGeom>
            <a:solidFill>
              <a:srgbClr val="4BACC6">
                <a:lumMod val="75000"/>
              </a:srgbClr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/>
            <a:lstStyle/>
            <a:p>
              <a:pPr marL="1034603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1785664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5DED64-1122-40B2-8216-9C0F52A86847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6A468B-1176-44DF-9B5D-187C4EB3027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jpeg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0022524-F7EA-46E9-9618-9AD1EE8ABA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776" y="1246932"/>
            <a:ext cx="11695824" cy="1649900"/>
          </a:xfr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en-US" sz="2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itchFamily="34" charset="0"/>
              </a:rPr>
              <a:t>10</a:t>
            </a:r>
            <a:r>
              <a:rPr lang="en-US" altLang="en-US" sz="2800" b="1" baseline="300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itchFamily="34" charset="0"/>
              </a:rPr>
              <a:t>th</a:t>
            </a:r>
            <a:r>
              <a:rPr lang="en-US" altLang="en-US" sz="2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itchFamily="34" charset="0"/>
              </a:rPr>
              <a:t> IEEE</a:t>
            </a:r>
            <a:r>
              <a:rPr lang="en-US" altLang="en-US" sz="28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itchFamily="34" charset="0"/>
              </a:rPr>
              <a:t> </a:t>
            </a:r>
            <a:r>
              <a:rPr lang="en-US" altLang="en-US" sz="2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itchFamily="34" charset="0"/>
              </a:rPr>
              <a:t>International Conference</a:t>
            </a:r>
            <a:r>
              <a:rPr lang="en-US" altLang="en-US" sz="28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itchFamily="34" charset="0"/>
              </a:rPr>
              <a:t> </a:t>
            </a:r>
            <a:r>
              <a:rPr lang="en-US" altLang="en-US" sz="2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itchFamily="34" charset="0"/>
              </a:rPr>
              <a:t>on Computing, Communication, Control and Automation </a:t>
            </a:r>
            <a:br>
              <a:rPr lang="en-US" altLang="en-US" sz="28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itchFamily="34" charset="0"/>
              </a:rPr>
            </a:br>
            <a:r>
              <a:rPr lang="en-US" altLang="en-US" sz="28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itchFamily="34" charset="0"/>
              </a:rPr>
              <a:t>(ICCUBEA-2026)</a:t>
            </a:r>
            <a:r>
              <a:rPr lang="en-US" alt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itchFamily="34" charset="0"/>
              </a:rPr>
              <a:t/>
            </a:r>
            <a:br>
              <a:rPr lang="en-US" alt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itchFamily="34" charset="0"/>
              </a:rPr>
            </a:br>
            <a:r>
              <a:rPr lang="en-IN" sz="2000" dirty="0">
                <a:solidFill>
                  <a:schemeClr val="accent2">
                    <a:lumMod val="75000"/>
                  </a:schemeClr>
                </a:solidFill>
              </a:rPr>
              <a:t>Tech for Good: Building a Better Digital World</a:t>
            </a:r>
            <a:r>
              <a:rPr lang="en-US" alt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itchFamily="34" charset="0"/>
              </a:rPr>
              <a:t/>
            </a:r>
            <a:br>
              <a:rPr lang="en-US" alt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itchFamily="34" charset="0"/>
              </a:rPr>
            </a:br>
            <a:r>
              <a:rPr lang="en-US" altLang="en-US" sz="3200" b="1" dirty="0">
                <a:solidFill>
                  <a:srgbClr val="304A1E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itchFamily="34" charset="0"/>
              </a:rPr>
              <a:t> </a:t>
            </a:r>
            <a:endParaRPr lang="en-IN" sz="3200" dirty="0">
              <a:solidFill>
                <a:srgbClr val="304A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574344B3-16AA-4C50-A04F-A73CE9796ACD}"/>
              </a:ext>
            </a:extLst>
          </p:cNvPr>
          <p:cNvSpPr txBox="1"/>
          <p:nvPr/>
        </p:nvSpPr>
        <p:spPr>
          <a:xfrm>
            <a:off x="2284027" y="0"/>
            <a:ext cx="7866129" cy="720710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>
            <a:spAutoFit/>
          </a:bodyPr>
          <a:lstStyle/>
          <a:p>
            <a:pPr algn="ctr">
              <a:buClr>
                <a:srgbClr val="000000"/>
              </a:buClr>
              <a:buSzPts val="1600"/>
              <a:defRPr/>
            </a:pPr>
            <a:r>
              <a:rPr lang="en-US" altLang="en-US" sz="1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itchFamily="34" charset="0"/>
              </a:rPr>
              <a:t>Pimpri Chinchwad Education Trust’s</a:t>
            </a:r>
            <a:endParaRPr lang="en-US" altLang="en-US" sz="20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itchFamily="34" charset="0"/>
            </a:endParaRPr>
          </a:p>
          <a:p>
            <a:pPr algn="ctr">
              <a:spcBef>
                <a:spcPts val="66"/>
              </a:spcBef>
              <a:buClr>
                <a:srgbClr val="000000"/>
              </a:buClr>
              <a:buSzPts val="2400"/>
              <a:defRPr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 pitchFamily="34" charset="0"/>
              </a:rPr>
              <a:t>Pimpri Chinchwad College of Engineering, Pune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="" xmlns:a16="http://schemas.microsoft.com/office/drawing/2014/main" id="{09D51DC2-7E4B-45DF-AF5E-F3541F391E3C}"/>
              </a:ext>
            </a:extLst>
          </p:cNvPr>
          <p:cNvGrpSpPr/>
          <p:nvPr/>
        </p:nvGrpSpPr>
        <p:grpSpPr>
          <a:xfrm>
            <a:off x="3318466" y="907040"/>
            <a:ext cx="6022934" cy="66801"/>
            <a:chOff x="0" y="884326"/>
            <a:chExt cx="8292584" cy="66801"/>
          </a:xfrm>
        </p:grpSpPr>
        <p:sp>
          <p:nvSpPr>
            <p:cNvPr id="9" name="Rectangle 8">
              <a:extLst>
                <a:ext uri="{FF2B5EF4-FFF2-40B4-BE49-F238E27FC236}">
                  <a16:creationId xmlns="" xmlns:a16="http://schemas.microsoft.com/office/drawing/2014/main" id="{0F6F7E19-3241-465A-9E9E-EC8F8809ADD1}"/>
                </a:ext>
              </a:extLst>
            </p:cNvPr>
            <p:cNvSpPr/>
            <p:nvPr/>
          </p:nvSpPr>
          <p:spPr bwMode="auto">
            <a:xfrm>
              <a:off x="6997239" y="884326"/>
              <a:ext cx="1295345" cy="66801"/>
            </a:xfrm>
            <a:prstGeom prst="rect">
              <a:avLst/>
            </a:prstGeom>
            <a:solidFill>
              <a:srgbClr val="9BBB5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="" xmlns:a16="http://schemas.microsoft.com/office/drawing/2014/main" id="{12532CD8-7C6A-4A6B-8C91-E42EA7BC4280}"/>
                </a:ext>
              </a:extLst>
            </p:cNvPr>
            <p:cNvSpPr/>
            <p:nvPr/>
          </p:nvSpPr>
          <p:spPr bwMode="auto">
            <a:xfrm>
              <a:off x="0" y="884326"/>
              <a:ext cx="6936079" cy="66801"/>
            </a:xfrm>
            <a:prstGeom prst="rect">
              <a:avLst/>
            </a:prstGeom>
            <a:solidFill>
              <a:srgbClr val="4BACC6">
                <a:lumMod val="75000"/>
              </a:srgbClr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txBody>
            <a:bodyPr anchor="ctr"/>
            <a:lstStyle/>
            <a:p>
              <a:pPr marL="1034603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" name="Rectangle: Rounded Corners 2">
            <a:extLst>
              <a:ext uri="{FF2B5EF4-FFF2-40B4-BE49-F238E27FC236}">
                <a16:creationId xmlns="" xmlns:a16="http://schemas.microsoft.com/office/drawing/2014/main" id="{26D4588C-457D-0C1D-2F96-D483D0865BD8}"/>
              </a:ext>
            </a:extLst>
          </p:cNvPr>
          <p:cNvSpPr/>
          <p:nvPr/>
        </p:nvSpPr>
        <p:spPr>
          <a:xfrm>
            <a:off x="1109516" y="2753859"/>
            <a:ext cx="10254343" cy="367610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By: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Paper-ID 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Paper Title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Author Names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Affiliation 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 Id 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B531ECF-2086-B78F-1E47-F53246BA5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21-08-2026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="" xmlns:a16="http://schemas.microsoft.com/office/drawing/2014/main" id="{4D66E3A5-5372-8F42-DEAC-64CE54294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237B1-CA96-486C-B120-773683BBF955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="" xmlns:a16="http://schemas.microsoft.com/office/drawing/2014/main" id="{5F9BA0B8-6A86-48EF-7F7A-B0415327B8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2850599" cy="827304"/>
          </a:xfrm>
          <a:prstGeom prst="rect">
            <a:avLst/>
          </a:prstGeom>
        </p:spPr>
      </p:pic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049" name="ole_rId2"/>
          <p:cNvGraphicFramePr>
            <a:graphicFrameLocks noChangeAspect="1"/>
          </p:cNvGraphicFramePr>
          <p:nvPr/>
        </p:nvGraphicFramePr>
        <p:xfrm>
          <a:off x="10914993" y="0"/>
          <a:ext cx="1066800" cy="914400"/>
        </p:xfrm>
        <a:graphic>
          <a:graphicData uri="http://schemas.openxmlformats.org/presentationml/2006/ole">
            <p:oleObj spid="_x0000_s2049" name="Bitmap Image" r:id="rId4" imgW="5866667" imgH="4982270" progId="PBrush">
              <p:embed/>
            </p:oleObj>
          </a:graphicData>
        </a:graphic>
      </p:graphicFrame>
      <p:pic>
        <p:nvPicPr>
          <p:cNvPr id="14" name="image2.jpg"/>
          <p:cNvPicPr preferRelativeResize="0"/>
          <p:nvPr/>
        </p:nvPicPr>
        <p:blipFill>
          <a:blip r:embed="rId5" cstate="print"/>
          <a:stretch>
            <a:fillRect/>
          </a:stretch>
        </p:blipFill>
        <p:spPr>
          <a:xfrm>
            <a:off x="9627470" y="105100"/>
            <a:ext cx="1166649" cy="68317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2519761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946234B-40C3-A33D-1075-6F6B34B34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                                   </a:t>
            </a:r>
            <a:endParaRPr lang="hi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688C124-A3E5-B540-FCA7-B9915D32B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21-08-2026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38941D00-5F08-4CD1-44C5-D78264D60304}"/>
              </a:ext>
            </a:extLst>
          </p:cNvPr>
          <p:cNvSpPr txBox="1"/>
          <p:nvPr/>
        </p:nvSpPr>
        <p:spPr>
          <a:xfrm>
            <a:off x="4373282" y="3648782"/>
            <a:ext cx="32272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Questions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hi-IN" sz="2800" dirty="0">
              <a:latin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B6254F7D-7C9A-8E95-441A-D92D789312C9}"/>
              </a:ext>
            </a:extLst>
          </p:cNvPr>
          <p:cNvSpPr txBox="1"/>
          <p:nvPr/>
        </p:nvSpPr>
        <p:spPr>
          <a:xfrm>
            <a:off x="2078229" y="1588655"/>
            <a:ext cx="78174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/>
              <a:t>  </a:t>
            </a:r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</a:t>
            </a:r>
            <a:endParaRPr lang="hi-IN" sz="6600" dirty="0">
              <a:latin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A96B6D51-8199-DE60-A931-FFD64FFD9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237B1-CA96-486C-B120-773683BBF955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872374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3380</TotalTime>
  <Words>46</Words>
  <Application>Microsoft Office PowerPoint</Application>
  <PresentationFormat>Custom</PresentationFormat>
  <Paragraphs>18</Paragraphs>
  <Slides>2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4" baseType="lpstr">
      <vt:lpstr>Office Theme</vt:lpstr>
      <vt:lpstr>Bitmap Image</vt:lpstr>
      <vt:lpstr>10th IEEE International Conference on Computing, Communication, Control and Automation  (ICCUBEA-2026) Tech for Good: Building a Better Digital World  </vt:lpstr>
      <vt:lpstr>Slide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Department of Information Technology</dc:title>
  <dc:creator>DELL</dc:creator>
  <cp:lastModifiedBy>AIML</cp:lastModifiedBy>
  <cp:revision>456</cp:revision>
  <dcterms:created xsi:type="dcterms:W3CDTF">2022-03-18T19:09:33Z</dcterms:created>
  <dcterms:modified xsi:type="dcterms:W3CDTF">2026-08-03T10:51:34Z</dcterms:modified>
</cp:coreProperties>
</file>