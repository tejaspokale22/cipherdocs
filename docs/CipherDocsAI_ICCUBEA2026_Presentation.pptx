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3415" r:id="rId2"/>
    <p:sldId id="3416" r:id="rId3"/>
    <p:sldId id="3417" r:id="rId4"/>
    <p:sldId id="3418" r:id="rId5"/>
    <p:sldId id="3419" r:id="rId6"/>
    <p:sldId id="3420" r:id="rId7"/>
    <p:sldId id="3421" r:id="rId8"/>
    <p:sldId id="341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A1E"/>
    <a:srgbClr val="F9ADEE"/>
    <a:srgbClr val="1111FB"/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EDEC25-3AB5-FF40-A950-1F4BA5670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338DA-25F0-A21A-6DA9-C2C5D33013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BAF20-1A03-4944-9055-8BADAC71E490}" type="datetimeFigureOut">
              <a:rPr lang="hi-IN" smtClean="0"/>
              <a:pPr/>
              <a:t>शनिवार, 31 श्रावण 1948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376C0-CCDA-7DFF-7147-59FD4617DB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ICCUBEA-22</a:t>
            </a:r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29DD4-353E-6D20-E922-9EA20063BD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B77F-8F4F-4E05-B831-970247CD30D5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30965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58163-2829-4791-B4DF-9FB9133543E0}" type="datetimeFigureOut">
              <a:rPr lang="en-IN" smtClean="0"/>
              <a:pPr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ICCUBEA-22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A5013-305B-4404-BE5B-3ED24F8E18E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1234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5480-3659-45CA-A72D-96A8E058727E}" type="datetime1">
              <a:rPr lang="en-IN" smtClean="0"/>
              <a:pPr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ICCUBEA-22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8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68034"/>
            <a:ext cx="11065747" cy="720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038782"/>
            <a:ext cx="11978640" cy="522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" y="6523670"/>
            <a:ext cx="2743200" cy="274324"/>
          </a:xfrm>
        </p:spPr>
        <p:txBody>
          <a:bodyPr/>
          <a:lstStyle/>
          <a:p>
            <a:fld id="{4E056B53-C172-4106-9720-CA39D0401213}" type="datetime1">
              <a:rPr lang="en-IN" smtClean="0"/>
              <a:pPr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23670"/>
            <a:ext cx="4114800" cy="274324"/>
          </a:xfrm>
        </p:spPr>
        <p:txBody>
          <a:bodyPr/>
          <a:lstStyle/>
          <a:p>
            <a:r>
              <a:rPr lang="en-IN"/>
              <a:t>ICCUBEA-22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1400" y="6523670"/>
            <a:ext cx="2743200" cy="274324"/>
          </a:xfrm>
        </p:spPr>
        <p:txBody>
          <a:bodyPr/>
          <a:lstStyle/>
          <a:p>
            <a:fld id="{AC4237B1-CA96-486C-B120-773683BBF955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D04F86-20FB-4FE2-9C78-7FB7FCA40D56}"/>
              </a:ext>
            </a:extLst>
          </p:cNvPr>
          <p:cNvGrpSpPr/>
          <p:nvPr userDrawn="1"/>
        </p:nvGrpSpPr>
        <p:grpSpPr>
          <a:xfrm>
            <a:off x="0" y="874168"/>
            <a:ext cx="11167347" cy="66801"/>
            <a:chOff x="0" y="884326"/>
            <a:chExt cx="8292584" cy="668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856CC5-5C97-4B7E-955F-D0C5AE3204B6}"/>
                </a:ext>
              </a:extLst>
            </p:cNvPr>
            <p:cNvSpPr/>
            <p:nvPr/>
          </p:nvSpPr>
          <p:spPr bwMode="auto">
            <a:xfrm>
              <a:off x="6997239" y="884326"/>
              <a:ext cx="1295345" cy="66801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EBFF2B-5D63-4EDA-BC13-9733DA966707}"/>
                </a:ext>
              </a:extLst>
            </p:cNvPr>
            <p:cNvSpPr/>
            <p:nvPr/>
          </p:nvSpPr>
          <p:spPr bwMode="auto">
            <a:xfrm>
              <a:off x="0" y="884326"/>
              <a:ext cx="6936079" cy="66801"/>
            </a:xfrm>
            <a:prstGeom prst="rect">
              <a:avLst/>
            </a:prstGeom>
            <a:solidFill>
              <a:srgbClr val="4BACC6">
                <a:lumMod val="75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1034603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56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ED64-1122-40B2-8216-9C0F52A86847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468B-1176-44DF-9B5D-187C4EB3027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2524-F7EA-46E9-9618-9AD1EE8AB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776" y="1246932"/>
            <a:ext cx="11695824" cy="16499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10</a:t>
            </a:r>
            <a:r>
              <a:rPr lang="en-US" altLang="en-US" sz="28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th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IEEE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International Conference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on Computing, Communication, Control and Automation </a:t>
            </a:r>
            <a:b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(ICCUBEA-2026)</a:t>
            </a:r>
            <a:b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Tech for Good: Building a Better Digital World</a:t>
            </a:r>
            <a:br>
              <a:rPr lang="en-US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US" altLang="en-US" sz="3200" b="1" dirty="0">
                <a:solidFill>
                  <a:srgbClr val="304A1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endParaRPr lang="en-IN" sz="3200" dirty="0">
              <a:solidFill>
                <a:srgbClr val="304A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344B3-16AA-4C50-A04F-A73CE9796ACD}"/>
              </a:ext>
            </a:extLst>
          </p:cNvPr>
          <p:cNvSpPr txBox="1"/>
          <p:nvPr/>
        </p:nvSpPr>
        <p:spPr>
          <a:xfrm>
            <a:off x="2284027" y="0"/>
            <a:ext cx="7866129" cy="72071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SzPts val="1600"/>
              <a:defRPr/>
            </a:pP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Pimpri Chinchwad Education Trust’s</a:t>
            </a:r>
            <a:endParaRPr lang="en-US" alt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itchFamily="34" charset="0"/>
            </a:endParaRPr>
          </a:p>
          <a:p>
            <a:pPr algn="ctr">
              <a:spcBef>
                <a:spcPts val="66"/>
              </a:spcBef>
              <a:buClr>
                <a:srgbClr val="000000"/>
              </a:buClr>
              <a:buSzPts val="2400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Pimpri Chinchwad College of Engineering, Pune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D51DC2-7E4B-45DF-AF5E-F3541F391E3C}"/>
              </a:ext>
            </a:extLst>
          </p:cNvPr>
          <p:cNvGrpSpPr/>
          <p:nvPr/>
        </p:nvGrpSpPr>
        <p:grpSpPr>
          <a:xfrm>
            <a:off x="3318466" y="907040"/>
            <a:ext cx="6022934" cy="66801"/>
            <a:chOff x="0" y="884326"/>
            <a:chExt cx="8292584" cy="66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F7E19-3241-465A-9E9E-EC8F8809ADD1}"/>
                </a:ext>
              </a:extLst>
            </p:cNvPr>
            <p:cNvSpPr/>
            <p:nvPr/>
          </p:nvSpPr>
          <p:spPr bwMode="auto">
            <a:xfrm>
              <a:off x="6997239" y="884326"/>
              <a:ext cx="1295345" cy="66801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532CD8-7C6A-4A6B-8C91-E42EA7BC4280}"/>
                </a:ext>
              </a:extLst>
            </p:cNvPr>
            <p:cNvSpPr/>
            <p:nvPr/>
          </p:nvSpPr>
          <p:spPr bwMode="auto">
            <a:xfrm>
              <a:off x="0" y="884326"/>
              <a:ext cx="6936079" cy="66801"/>
            </a:xfrm>
            <a:prstGeom prst="rect">
              <a:avLst/>
            </a:prstGeom>
            <a:solidFill>
              <a:srgbClr val="4BACC6">
                <a:lumMod val="75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1034603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D4588C-457D-0C1D-2F96-D483D0865BD8}"/>
              </a:ext>
            </a:extLst>
          </p:cNvPr>
          <p:cNvSpPr/>
          <p:nvPr/>
        </p:nvSpPr>
        <p:spPr>
          <a:xfrm>
            <a:off x="1109516" y="2753859"/>
            <a:ext cx="10254343" cy="36761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1201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CipherDocs-AI: Leveraging Vision Language Models for Intelligent Document
Verification, Contextual Analysis and Adaptive Security in Blockchain Systems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Rohini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Pise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Ojas Patil, Tejas Pokale, Harshvardhan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Nerpagar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 Nisha Chavan Department of Information Technology, Pimpri Chinchwad College of Engineering, Pune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rohini.pise22@pccoepune.org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1ECF-2086-B78F-1E47-F53246BA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66E3A5-5372-8F42-DEAC-64CE5429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9BA0B8-6A86-48EF-7F7A-B0415327B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2850599" cy="827304"/>
          </a:xfrm>
          <a:prstGeom prst="rect">
            <a:avLst/>
          </a:prstGeom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le_rId2"/>
          <p:cNvGraphicFramePr>
            <a:graphicFrameLocks noChangeAspect="1"/>
          </p:cNvGraphicFramePr>
          <p:nvPr/>
        </p:nvGraphicFramePr>
        <p:xfrm>
          <a:off x="10914993" y="0"/>
          <a:ext cx="106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866667" imgH="4982270" progId="PBrush">
                  <p:embed/>
                </p:oleObj>
              </mc:Choice>
              <mc:Fallback>
                <p:oleObj name="Bitmap Image" r:id="rId3" imgW="5866667" imgH="4982270" progId="PBrush">
                  <p:embed/>
                  <p:pic>
                    <p:nvPicPr>
                      <p:cNvPr id="0" name="ole_rId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4993" y="0"/>
                        <a:ext cx="1066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2.jpg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9627470" y="105100"/>
            <a:ext cx="1166649" cy="6831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976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515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17320"/>
            <a:ext cx="5760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Digitization of certificates/records has raised forgery, unauthorized editing and identity-abuse risks across governance, education, healthcare &amp; legal domains.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CipherDocs (baseline) secures documents using Polygon blockchain, SHA-256 hashing, AES-256 encryption and IPFS — but validation stays purely deterministic (h′ = h ? 1 : 0).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Modern forgeries (AI-edited content, re-hashed tampering, deepfakes) demand context-aware, intelligent verification — not just hash 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Motivation — Gaps in CipherDocs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0"/>
            <a:ext cx="5760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Hash comparison cannot catch forgeries re-hashed after tampering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No semantic interpretation or field-level content validation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Non-technical users struggle with wallets &amp; verification workflows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Uniform AES-256 encryption regardless of document sensitivity/risk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Times New Roman"/>
              </a:rPr>
              <a:t>CipherDocs Baseline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Polygon Amoy testnet: ~$0.001 avg. transaction cost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Verification latency: 150 – 250 ms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Throughput: up to 2,000 TPS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SHA-256 hash + AES-256 encryption + IPFS storage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Times New Roman"/>
              </a:rPr>
              <a:t>QR verification, RBAC, ZKP-based lifecycle management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749039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Blockchain Only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(Deterministic)</a:t>
                      </a:r>
                    </a:p>
                  </a:txBody>
                  <a:tcPr marT="50800" marB="5080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+ AI Layer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(Contextual)</a:t>
                      </a:r>
                    </a:p>
                  </a:txBody>
                  <a:tcPr marT="50800" marB="50800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Binary valid/invalid;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no tamper explanation;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static encryption for all docs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Multi-class forgery type;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natural-language Doc Chat;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risk-adaptive encryption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Paper (Core Tech.)</a:t>
                      </a:r>
                    </a:p>
                  </a:txBody>
                  <a:tcPr marT="50800" marB="5080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 Identified</a:t>
                      </a:r>
                    </a:p>
                  </a:txBody>
                  <a:tcPr marT="50800" marB="5080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CipherDocs-AI Novelty</a:t>
                      </a:r>
                    </a:p>
                  </a:txBody>
                  <a:tcPr marT="50800" marB="50800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Certifier DApp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(Ethereum)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High gas fees; needs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manual intervention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Polygon-native + AI agent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layer automates verification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Systematic Review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(Academic Certificates)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Security emphasized over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usability; poor UX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Doc Chat: natural-language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access for non-technical users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Doc-forgery Detection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Review (ML methods)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Traditional methods fail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post-compression; no real-time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VLM engine: real-time multi-class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forgery classification</a:t>
                      </a:r>
                    </a:p>
                  </a:txBody>
                  <a:tcPr marT="50800" marB="50800" anchor="ctr"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IPFS + QR Systems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(Decentralized storage)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Static QR; basic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verification only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Dynamic trust scoring +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behavioral anomaly detection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System Design of the 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0584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50" b="1">
                <a:solidFill>
                  <a:srgbClr val="1F497D"/>
                </a:solidFill>
                <a:latin typeface="Times New Roman"/>
              </a:rPr>
              <a:t>The AI layer sits above CipherDocs' blockchain foundation — it augments, never modifies, the deployed smart contracts.</a:t>
            </a:r>
          </a:p>
        </p:txBody>
      </p:sp>
      <p:pic>
        <p:nvPicPr>
          <p:cNvPr id="4" name="Picture 3" descr="arch_diagra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277361"/>
            <a:ext cx="10698480" cy="567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Core AI Modules &amp; Verification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Key AI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0"/>
            <a:ext cx="5577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Agent Controller – routes tasks, calls issueCertificate(), verifyCertificate(), revokeCertificate(), checkExpiry() asynchronously.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VLM Engine – multi-class forgery classification: Field Alteration, Font Inconsistency, Layout Manipulation, or Authentic.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Runs only when the deterministic hash check needs contextual interpretation — keeps the blockchain verification pipeline non-blocking.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371600"/>
            <a:ext cx="5577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NLP Unit – text normalization, structured field extraction, smart summarization, semantic search across certificate repositories.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Doc Chat (RAG) – answers natural-language queries (e.g. “Is this certificate still valid?”, “Was this document altered?”) grounded only in verified on-chain data.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Ideal for non-technical, third-party verifiers who need not touch blockchain explorers.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261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AI-Supported Verification Workflow</a:t>
            </a:r>
          </a:p>
        </p:txBody>
      </p:sp>
      <p:pic>
        <p:nvPicPr>
          <p:cNvPr id="7" name="Picture 6" descr="workflow_diagra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73" y="4112435"/>
            <a:ext cx="8229600" cy="2128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Security &amp; Analytics Engine and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Adaptive Encryption — Risk-Based Tiers</a:t>
            </a:r>
          </a:p>
        </p:txBody>
      </p:sp>
      <p:pic>
        <p:nvPicPr>
          <p:cNvPr id="4" name="Picture 3" descr="tier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8778240" cy="213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Dynamic Trust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977639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T(issuer) ∈ [0,1] computed from issuance frequency, revocation rate, verification failures &amp; metadata consistency — flags low-trust issuers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611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977639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Blockchain (inherited): Polygon, Solidity, SHA-256, AES-256, IPFS, MetaMask/Web3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AI Backend: Python microservices — VLM inference, NLP pipeline, RAG-based Doc Chat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Agent Controller: async message-queue task orchestration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Frontend: Web UI extended with AI Chat &amp; analytics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0504D"/>
                </a:solidFill>
                <a:latin typeface="Times New Roman"/>
              </a:rPr>
              <a:t>Evaluation &amp; Results, Conclusion and Future Work</a:t>
            </a:r>
          </a:p>
        </p:txBody>
      </p:sp>
      <p:pic>
        <p:nvPicPr>
          <p:cNvPr id="3" name="Picture 2" descr="perf_chart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960120"/>
            <a:ext cx="8686800" cy="32301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09160"/>
            <a:ext cx="5486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CipherDocs-AI adds a multi-agent AI layer on top of the unmodified CipherDocs blockchain baseline — dual-layer verification (deterministic + probabilistic trust).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Times New Roman"/>
              </a:rPr>
              <a:t>Improves forgery-detection granularity, reduces manual dependence, and greatly improves usability for non-technical stakeholders — with no added on-chain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4343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4709160"/>
            <a:ext cx="5577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Lightweight, quantized VLM/NLP models for lower-latency inference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Privacy-preserving AI (secure multi-party computation, differential privacy)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Reinforcement-learning-driven adaptive agent controller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Multilingual &amp; cross-domain document support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AI-assisted Zero-Knowledge Proof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6234B-40C3-A33D-1075-6F6B34B3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</a:t>
            </a:r>
            <a:endParaRPr lang="hi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C124-A3E5-B540-FCA7-B9915D32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54F7D-7C9A-8E95-441A-D92D789312C9}"/>
              </a:ext>
            </a:extLst>
          </p:cNvPr>
          <p:cNvSpPr txBox="1"/>
          <p:nvPr/>
        </p:nvSpPr>
        <p:spPr>
          <a:xfrm>
            <a:off x="2182220" y="3094784"/>
            <a:ext cx="781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 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hi-IN" sz="6600" dirty="0">
              <a:latin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B6D51-8199-DE60-A931-FFD64FFD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37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3390</TotalTime>
  <Words>744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Bitmap Image</vt:lpstr>
      <vt:lpstr>10th IEEE International Conference on Computing, Communication, Control and Automation  (ICCUBEA-2026) Tech for Good: Building a Better Digital World  </vt:lpstr>
      <vt:lpstr>Introduction &amp; Motivation</vt:lpstr>
      <vt:lpstr>Literature Survey</vt:lpstr>
      <vt:lpstr>System Design of the AI Layer</vt:lpstr>
      <vt:lpstr>Core AI Modules &amp; Verification Workflow</vt:lpstr>
      <vt:lpstr>Security &amp; Analytics Engine and Technology Stack</vt:lpstr>
      <vt:lpstr>Evaluation &amp; Results, Conclusion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DELL</dc:creator>
  <cp:lastModifiedBy>Tejas Pokale</cp:lastModifiedBy>
  <cp:revision>459</cp:revision>
  <dcterms:created xsi:type="dcterms:W3CDTF">2022-03-18T19:09:33Z</dcterms:created>
  <dcterms:modified xsi:type="dcterms:W3CDTF">2026-08-22T03:27:49Z</dcterms:modified>
</cp:coreProperties>
</file>